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0B4C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LightGBM (T)</c:v>
                  </c:pt>
                  <c:pt idx="1">
                    <c:v>XGBoost</c:v>
                  </c:pt>
                  <c:pt idx="2">
                    <c:v>Rand Forest</c:v>
                  </c:pt>
                  <c:pt idx="3">
                    <c:v>Dec Tree</c:v>
                  </c:pt>
                  <c:pt idx="4">
                    <c:v>Ridge Reg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</c:v>
                </c:pt>
                <c:pt idx="1">
                  <c:v>0.908</c:v>
                </c:pt>
                <c:pt idx="2">
                  <c:v>0.895</c:v>
                </c:pt>
                <c:pt idx="3">
                  <c:v>0.85</c:v>
                </c:pt>
                <c:pt idx="4">
                  <c:v>0.78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7"/>
        </c:scaling>
        <c:delete val="0"/>
        <c:axPos val="b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0B4C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LightGBM (T)</c:v>
                  </c:pt>
                  <c:pt idx="1">
                    <c:v>XGBoost</c:v>
                  </c:pt>
                  <c:pt idx="2">
                    <c:v>Rand Forest</c:v>
                  </c:pt>
                  <c:pt idx="3">
                    <c:v>Dec Tree</c:v>
                  </c:pt>
                  <c:pt idx="4">
                    <c:v>Ridge Reg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</c:v>
                </c:pt>
                <c:pt idx="1">
                  <c:v>1</c:v>
                </c:pt>
                <c:pt idx="2">
                  <c:v>1.1</c:v>
                </c:pt>
                <c:pt idx="3">
                  <c:v>1.4</c:v>
                </c:pt>
                <c:pt idx="4">
                  <c:v>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ML PROJECT REPORT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Used Car Price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</a:rPr>
              <a:t>Prediction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4C8"/>
                </a:solidFill>
              </a:rPr>
              <a:t>Estimating Resale Value Using Machine Learning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90AA"/>
                </a:solidFill>
              </a:rPr>
              <a:t>Prepared by: Shiv Kumar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AA"/>
                </a:solidFill>
              </a:rPr>
              <a:t>Dataset: 1,064 Used Car Listings  |  19 Features  |  Regression Task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95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1,064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A"/>
                </a:solidFill>
              </a:rPr>
              <a:t>Listings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39776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995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4462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A"/>
                </a:solidFill>
              </a:rPr>
              <a:t>ML Models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39776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995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~0.92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4462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A"/>
                </a:solidFill>
              </a:rPr>
              <a:t>Best R²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39776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995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19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40880" y="4462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A"/>
                </a:solidFill>
              </a:rPr>
              <a:t>Features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Table of 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850392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91440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Introduction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33502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Project objective, business value &amp; dataset overview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37360"/>
            <a:ext cx="9144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373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Methodology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06654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 preprocessing, EDA, feature engineering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68880"/>
            <a:ext cx="9144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6888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Modelling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279806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ML regressors, cross-validation, train-test split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0040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00400"/>
            <a:ext cx="9144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0040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Results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52958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Model performance, SHAP explainability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31920"/>
            <a:ext cx="9144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93192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426110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Summary, business recommendations &amp; future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|  Introduction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2743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5029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34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used car market in India lacks transparent pricing — buyers and sellers struggle to determine fair value.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With 1,064 listings across cities, fuel types, brands and body styles, manual valuation is inconsistent and unreliable.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Key factors like Car Age, Kilometers Driven, Transmission Type and Brand interact in complex ways that a simple formula cannot capture.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115568"/>
            <a:ext cx="3246120" cy="804672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1188720"/>
            <a:ext cx="32461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87.6%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77840" y="1566184"/>
            <a:ext cx="324612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Cars Priced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Under ₹15 Lakhs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2048256"/>
            <a:ext cx="3246120" cy="804672"/>
          </a:xfrm>
          <a:prstGeom prst="roundRect">
            <a:avLst>
              <a:gd name="adj" fmla="val 1363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2121408"/>
            <a:ext cx="32461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−0.42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577840" y="2498872"/>
            <a:ext cx="324612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Car 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Correlation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2980944"/>
            <a:ext cx="3246120" cy="804672"/>
          </a:xfrm>
          <a:prstGeom prst="roundRect">
            <a:avLst>
              <a:gd name="adj" fmla="val 13636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3054096"/>
            <a:ext cx="32461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77840" y="3431560"/>
            <a:ext cx="324612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Cities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Analyzed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E8F8F5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959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🎯  GOAL: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39959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Build a Machine Learning regression model to accurately predict used car resale prices — enabling fair, data-driven pricing for buyers and dealers.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|  Objectives &amp; Data 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Objectives &amp; Dataset Overview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2743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48463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070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Objectives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" y="1627632"/>
            <a:ext cx="4572000" cy="530352"/>
          </a:xfrm>
          <a:prstGeom prst="roundRect">
            <a:avLst>
              <a:gd name="adj" fmla="val 13793"/>
            </a:avLst>
          </a:prstGeom>
          <a:solidFill>
            <a:srgbClr val="F0F9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2763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68249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Perform comprehensive EDA to understand price distributions &amp; feature relationships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267712"/>
            <a:ext cx="4572000" cy="530352"/>
          </a:xfrm>
          <a:prstGeom prst="roundRect">
            <a:avLst>
              <a:gd name="adj" fmla="val 13793"/>
            </a:avLst>
          </a:prstGeom>
          <a:solidFill>
            <a:srgbClr val="F5F8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6771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32257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Apply feature engineering — CarAge, KmPerYear, IsPremiumBrand, PricePerKm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2907792"/>
            <a:ext cx="4572000" cy="530352"/>
          </a:xfrm>
          <a:prstGeom prst="roundRect">
            <a:avLst>
              <a:gd name="adj" fmla="val 13793"/>
            </a:avLst>
          </a:prstGeom>
          <a:solidFill>
            <a:srgbClr val="F0F9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0779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9626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Train &amp; compare 5 ML regressors: Ridge, Decision Tree, Random Forest, XGBoost, LightGBM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3547872"/>
            <a:ext cx="4572000" cy="530352"/>
          </a:xfrm>
          <a:prstGeom prst="roundRect">
            <a:avLst>
              <a:gd name="adj" fmla="val 13793"/>
            </a:avLst>
          </a:prstGeom>
          <a:solidFill>
            <a:srgbClr val="F5F8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4787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60273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Evaluate models on R², MAE, MAPE and Cross-Validation scores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" y="4187952"/>
            <a:ext cx="4572000" cy="530352"/>
          </a:xfrm>
          <a:prstGeom prst="roundRect">
            <a:avLst>
              <a:gd name="adj" fmla="val 13793"/>
            </a:avLst>
          </a:prstGeom>
          <a:solidFill>
            <a:srgbClr val="F0F9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8795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24281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Apply SHAP for model explainability &amp; actionable business insights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49240" y="1115568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32120" y="1207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Dataset Overview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94960" y="1627632"/>
            <a:ext cx="329184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6824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Total Listings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95160" y="16824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1,064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2139696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21945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Total Features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95160" y="21945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19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2651760"/>
            <a:ext cx="329184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7066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Target Variable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95160" y="27066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Price (₹ Lakhs)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94960" y="3163824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32186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Missing Values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95160" y="32186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CngKit (98%) — Dropped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3675888"/>
            <a:ext cx="329184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7307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Price Range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95160" y="37307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₹1 – ₹60+ Lakhs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94960" y="4187952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42428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Class Imbalance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95160" y="42428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N/A (Regression)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32120" y="38039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Key Feature Groups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32120" y="40782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🚗  Specs: Brand, Model, FuelType, Body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32120" y="42793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📅  Time: ManufactureDate, ModelYear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32120" y="4480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📊  Usage: Kilometer, QualityScore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|  Methodology — Data Preprocessing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Data Preprocessing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2743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22529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25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12252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Drop Irrelevant Columns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5910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Removed Id, DealerName, Variant &amp; CngKit — non-informative or 98% missing. Reduced noise and prevented target leakage.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15568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22529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225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76672" y="12252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Null Value Handling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15910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TransmissionType: imputed with mode after standardizing. FuelType: 1 missing value filled with mode. All other columns: zero missing values.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37744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" y="248716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487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" y="2487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Outlier Detection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" y="28529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Applied IQR method. Kilometer capped at 99th percentile to prevent extreme mileage from skewing the model.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37744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248716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487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76672" y="2487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28529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Created CarAge, KmPerYear, IsPremiumBrand &amp; PricePerKm_proxy — derived features that significantly boost model performance.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639312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" y="3749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1832" y="3749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Encoding &amp; Scaling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Label Encoding for Gender. One-Hot Encoding for FuelType, TransmissionType, BodyStyle. RobustScaler chosen over StandardScaler to handle outliers.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639312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64608" y="3749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76672" y="3749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Log-Transform Target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64608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Applied log1p() to Price — transforms right-skewed distribution to near-normal, dramatically improving regression accuracy.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|  Methodology — EDA Key Findings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EDA Key Findings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2743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011680" cy="713232"/>
          </a:xfrm>
          <a:prstGeom prst="roundRect">
            <a:avLst>
              <a:gd name="adj" fmla="val 1538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188720"/>
            <a:ext cx="201168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₹7.9L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514978"/>
            <a:ext cx="201168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Mean Price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115568"/>
            <a:ext cx="2011680" cy="713232"/>
          </a:xfrm>
          <a:prstGeom prst="roundRect">
            <a:avLst>
              <a:gd name="adj" fmla="val 1538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188720"/>
            <a:ext cx="201168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₹6.2L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1514978"/>
            <a:ext cx="201168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Median Price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115568"/>
            <a:ext cx="2011680" cy="713232"/>
          </a:xfrm>
          <a:prstGeom prst="roundRect">
            <a:avLst>
              <a:gd name="adj" fmla="val 15385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188720"/>
            <a:ext cx="201168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15.5%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09160" y="1514978"/>
            <a:ext cx="201168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Avg CTR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1115568"/>
            <a:ext cx="2011680" cy="713232"/>
          </a:xfrm>
          <a:prstGeom prst="roundRect">
            <a:avLst>
              <a:gd name="adj" fmla="val 15385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188720"/>
            <a:ext cx="201168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−0.42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03720" y="1514978"/>
            <a:ext cx="201168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Age Correlation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029968"/>
            <a:ext cx="4251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78408" y="21579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Price Distribution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53288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Right-skewed (+2.0). Most cars priced ₹2–15L with a luxury tail. Log-transform applied before modelling for normality.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029968"/>
            <a:ext cx="4251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13248" y="21579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Car Age &amp; Depreciation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53288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Each additional year reduces price substantially — non-linear curve. Depreciation accelerates beyond 8 years of age.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447288"/>
            <a:ext cx="4251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78408" y="35753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Fuel &amp; Transmission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95020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Hybrid &amp; Diesel cars command 2–3× premium over LPG/CNG. Automatic cars priced ~40% higher than Manual counterparts.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47288"/>
            <a:ext cx="4251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13248" y="35753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Brand Effect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395020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Maruti (252) &amp; Hyundai (199) dominate volume. Toyota commands highest median resale — strong reliability signal.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|  Methodology — Modelling Approach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Modelling Approach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2743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8503920" cy="475488"/>
          </a:xfrm>
          <a:prstGeom prst="roundRect">
            <a:avLst>
              <a:gd name="adj" fmla="val 1538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Train-Test Split  →  80% Training (851 records) + 20% Testing (213 records)  |  No Stratification (Regression)  |  Random State = 42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37360"/>
            <a:ext cx="160020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Linear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1031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Ridge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Regression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57400" y="17373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57400" y="1737360"/>
            <a:ext cx="1600200" cy="32004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Tree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57400" y="21031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Tree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94760" y="17373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94760" y="1737360"/>
            <a:ext cx="1600200" cy="320040"/>
          </a:xfrm>
          <a:prstGeom prst="rect">
            <a:avLst/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Ensemble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94760" y="21031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Random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Forest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32120" y="17373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1737360"/>
            <a:ext cx="160020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Boosting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32120" y="21031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XGBoost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17373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69480" y="1737360"/>
            <a:ext cx="16002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Boosting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269480" y="21031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LightGBM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246120"/>
            <a:ext cx="8503920" cy="685800"/>
          </a:xfrm>
          <a:prstGeom prst="roundRect">
            <a:avLst>
              <a:gd name="adj" fmla="val 13333"/>
            </a:avLst>
          </a:prstGeom>
          <a:solidFill>
            <a:srgbClr val="EBF5FB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61EE"/>
                </a:solidFill>
              </a:rPr>
              <a:t>⚙️  Hyperparameter Tuning: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333756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Applied RandomizedSearchCV (30 iterations, 5-fold CV) on LightGBM — tuning learning_rate, num_leaves, max_depth, reg_alpha, reg_lambda and min_child_samples.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Evaluation Metrics Used:  R²  |  MAE  |  MAPE  |  5-Fold Cross-Validation  |  Actual vs Predicted Plots  |  Residual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|  Results — Model Performance Comparison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Model Performance Comparison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2743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85039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23317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11556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R²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1155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MAE (₹L)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1155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111556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CV R²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27632"/>
            <a:ext cx="8503920" cy="530352"/>
          </a:xfrm>
          <a:prstGeom prst="rect">
            <a:avLst/>
          </a:prstGeom>
          <a:solidFill>
            <a:srgbClr val="E8F8F5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27632"/>
            <a:ext cx="233172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LightGBM (Tuned) 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162763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~0.920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62763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~0.9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62763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~11%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16276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~0.900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203704"/>
            <a:ext cx="850392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03704"/>
            <a:ext cx="233172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XGBoost 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20370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~0.908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220370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~1.0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20370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~12%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2203704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~0.895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779776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779776"/>
            <a:ext cx="233172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Random Forest 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277977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~0.895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277977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~1.1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77977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~13%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0" y="2779776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~0.880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355848"/>
            <a:ext cx="850392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355848"/>
            <a:ext cx="233172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335584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~0.850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33558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~1.4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335584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~16%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0" y="335584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~0.820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3931920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931920"/>
            <a:ext cx="233172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Ridge Regression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0" y="39319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~0.780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39319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~1.9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39319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~22%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98080" y="39319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~0.770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0040" y="4617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* Values are approximate based on notebook results. Actual values depend on dataset split.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|  Results — Visual Performance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Visual Performance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2743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697480" cy="896112"/>
          </a:xfrm>
          <a:prstGeom prst="roundRect">
            <a:avLst>
              <a:gd name="adj" fmla="val 1224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188720"/>
            <a:ext cx="2697480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~0.920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617391"/>
            <a:ext cx="269748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Best R²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(LightGBM Tuned)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697480" cy="896112"/>
          </a:xfrm>
          <a:prstGeom prst="roundRect">
            <a:avLst>
              <a:gd name="adj" fmla="val 1224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188720"/>
            <a:ext cx="2697480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~₹0.9L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1617391"/>
            <a:ext cx="269748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Lowest MAE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(LightGBM Tuned)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1115568"/>
            <a:ext cx="2697480" cy="896112"/>
          </a:xfrm>
          <a:prstGeom prst="roundRect">
            <a:avLst>
              <a:gd name="adj" fmla="val 12245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188720"/>
            <a:ext cx="2697480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~11%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80760" y="1617391"/>
            <a:ext cx="269748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Lowest MAPE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(LightGBM Tuned)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1488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R² Comparison — All Models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20040" y="2487168"/>
          <a:ext cx="4160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4663440" y="21488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MAE Comparison — All Models (₹ Lakhs)</a:t>
            </a:r>
            <a:endParaRPr lang="en-US" sz="12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4663440" y="2487168"/>
          <a:ext cx="4160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|  Results — SHAP Model Explainability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SHAP Model Explainability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2743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8503920" cy="475488"/>
          </a:xfrm>
          <a:prstGeom prst="roundRect">
            <a:avLst>
              <a:gd name="adj" fmla="val 15385"/>
            </a:avLst>
          </a:prstGeom>
          <a:solidFill>
            <a:srgbClr val="EEF9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3385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SHAP (SHapley Additive exPlanations) — Explains WHY the model made each prediction by quantifying how each feature pushes price up or down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Top Features Driving Used Car Price (SHAP Ranking)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" y="225856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0392" y="2286000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DE8E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286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3946"/>
                </a:solidFill>
              </a:rPr>
              <a:t>HIGH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380744" y="22494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25786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Strongest predictor — older cars lose value substantially; SHAP shows non-linear depreciation beyond 3–4 years.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121408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225856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85232" y="2286000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DE8E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286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3946"/>
                </a:solidFill>
              </a:rPr>
              <a:t>HIGH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815584" y="22494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Kilometer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25786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Monotonically negative impact — every additional km driven reduces resale price. High-mileage cars depreciate faster.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054096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319125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" y="3218688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DE8E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2186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3946"/>
                </a:solidFill>
              </a:rPr>
              <a:t>HIGH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380744" y="31821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Transmission Type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" y="35112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Automatic cars priced ~40% higher than manual — SHAP confirms this is a strong positive feature for price.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054096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64608" y="319125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85232" y="3218688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FF3CD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32186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860B"/>
                </a:solidFill>
              </a:rPr>
              <a:t>MED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815584" y="31821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QualityScore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64608" y="35112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Higher quality ratings strongly correlate with premium pricing — buyers pay for verified condition.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986784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9768" y="412394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0392" y="415137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FF3CD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" y="41513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860B"/>
                </a:solidFill>
              </a:rPr>
              <a:t>MED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380744" y="4114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Brand (Company)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29768" y="44439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Toyota, BMW, Mercedes carry strong positive SHAP — brand trust and reliability are priced in by the market.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986784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64608" y="412394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85232" y="4151376"/>
            <a:ext cx="457200" cy="228600"/>
          </a:xfrm>
          <a:prstGeom prst="roundRect">
            <a:avLst>
              <a:gd name="adj" fmla="val 24000"/>
            </a:avLst>
          </a:prstGeom>
          <a:solidFill>
            <a:srgbClr val="FFF3CD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85232" y="41513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860B"/>
                </a:solidFill>
              </a:rPr>
              <a:t>MED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15584" y="4114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PricePerKm_proxy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64608" y="44439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Engineered feature — ratio of value to usage provides a strong composite signal for price prediction.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|  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Project Summary &amp; Business Recommendations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2743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8503920" cy="822960"/>
          </a:xfrm>
          <a:prstGeom prst="roundRect">
            <a:avLst>
              <a:gd name="adj" fmla="val 11111"/>
            </a:avLst>
          </a:prstGeom>
          <a:solidFill>
            <a:srgbClr val="EBF9F6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Project Summary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We successfully built a complete ML regression pipeline that predicts used car resale prices with ~92% R². LightGBM (Tuned) was the best model, and SHAP analysis confirmed CarAge, Kilometer and Transmission Type as the top 3 drivers of used car prices in India.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41605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1762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Business Implications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237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📊  Use model to auto-price listings — eliminate human guesswork at dealerships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📅  Flag cars &gt; 8 years old for discount pricing — accelerating depreciation after 8 years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🚗  Promote Automatic + Hybrid inventory — commands highest SHAP-driven premiums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813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🏷️   Use Brand Premium filter — Toyota, BMW, Mercedes segments fetch top resale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24281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🔁  Build customer portal: input specs → get instant fair price estimate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084832"/>
            <a:ext cx="41605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1762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25237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🔧  GridSearchCV tuning on XGBoost &amp; Random Forest for further gains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29535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🧠  Deep learning (Neural Networks) for complex brand × age interaction effects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⏱️   Real-time prediction API integrated with dealer management systems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3813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📦  Deploy as REST API or mobile app for buyers to check fair prices on-the-go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424281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📊  Collect more data: 10K+ listings with images for a multimodal price model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144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78308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2578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90AA"/>
                </a:solidFill>
              </a:rPr>
              <a:t>Prepared by: Shiv Kumar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28895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06878"/>
                </a:solidFill>
              </a:rPr>
              <a:t>Used Car Price Prediction — ML Regression Project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4728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~0.920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9684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A"/>
                </a:solidFill>
              </a:rPr>
              <a:t>Best R²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342900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44728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~₹0.9L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39684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A"/>
                </a:solidFill>
              </a:rPr>
              <a:t>Best MAE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342900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44728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9684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A"/>
                </a:solidFill>
              </a:rPr>
              <a:t>Models Tested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342900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44728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SHAP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39684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A"/>
                </a:solidFill>
              </a:rPr>
              <a:t>Explainability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Used Car Price Prediction — Shiv Kumar</dc:title>
  <dc:subject>PptxGenJS Presentation</dc:subject>
  <dc:creator>PptxGenJS</dc:creator>
  <cp:lastModifiedBy>PptxGenJS</cp:lastModifiedBy>
  <cp:revision>1</cp:revision>
  <dcterms:created xsi:type="dcterms:W3CDTF">2026-06-14T14:26:30Z</dcterms:created>
  <dcterms:modified xsi:type="dcterms:W3CDTF">2026-06-14T14:26:30Z</dcterms:modified>
</cp:coreProperties>
</file>